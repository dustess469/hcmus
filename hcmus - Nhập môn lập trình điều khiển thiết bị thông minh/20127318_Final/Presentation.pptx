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22"/>
  </p:notesMasterIdLst>
  <p:sldIdLst>
    <p:sldId id="256" r:id="rId2"/>
    <p:sldId id="258" r:id="rId3"/>
    <p:sldId id="266" r:id="rId4"/>
    <p:sldId id="257" r:id="rId5"/>
    <p:sldId id="356" r:id="rId6"/>
    <p:sldId id="357" r:id="rId7"/>
    <p:sldId id="358" r:id="rId8"/>
    <p:sldId id="347" r:id="rId9"/>
    <p:sldId id="286" r:id="rId10"/>
    <p:sldId id="349" r:id="rId11"/>
    <p:sldId id="348" r:id="rId12"/>
    <p:sldId id="350" r:id="rId13"/>
    <p:sldId id="351" r:id="rId14"/>
    <p:sldId id="353" r:id="rId15"/>
    <p:sldId id="352" r:id="rId16"/>
    <p:sldId id="354" r:id="rId17"/>
    <p:sldId id="355" r:id="rId18"/>
    <p:sldId id="359" r:id="rId19"/>
    <p:sldId id="360" r:id="rId20"/>
    <p:sldId id="320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erriweather Light" panose="00000400000000000000" pitchFamily="2" charset="0"/>
      <p:regular r:id="rId27"/>
      <p:bold r:id="rId28"/>
      <p:italic r:id="rId29"/>
      <p:bold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Vidaloka" panose="020B0604020202020204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5A976-4A57-43AB-B034-842391FD05F2}">
  <a:tblStyle styleId="{D275A976-4A57-43AB-B034-842391FD05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89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5963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9030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871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487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1200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8908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262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960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6889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5516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cc7554a049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cc7554a049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060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29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1267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cf7a3c503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cf7a3c503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6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32" name="Google Shape;232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>
            <a:spLocks noGrp="1"/>
          </p:cNvSpPr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8" r:id="rId4"/>
    <p:sldLayoutId id="2147483659" r:id="rId5"/>
    <p:sldLayoutId id="2147483676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brsdincer/vehicle-detection-image-se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040000" y="1766400"/>
            <a:ext cx="7064100" cy="11691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br>
              <a:rPr lang="en-US" dirty="0"/>
            </a:br>
            <a:r>
              <a:rPr lang="en-US" b="1" dirty="0"/>
              <a:t>AIOT Final Project</a:t>
            </a:r>
            <a:endParaRPr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40000" y="2935559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Image Classification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95" name="Google Shape;495;p61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496" name="Google Shape;496;p61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Collect data</a:t>
            </a:r>
            <a:endParaRPr dirty="0"/>
          </a:p>
        </p:txBody>
      </p:sp>
      <p:sp>
        <p:nvSpPr>
          <p:cNvPr id="499" name="Google Shape;499;p61"/>
          <p:cNvSpPr txBox="1">
            <a:spLocks noGrp="1"/>
          </p:cNvSpPr>
          <p:nvPr>
            <p:ph type="subTitle" idx="5"/>
          </p:nvPr>
        </p:nvSpPr>
        <p:spPr>
          <a:xfrm>
            <a:off x="5001000" y="39024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 on Arduino IDE</a:t>
            </a:r>
            <a:endParaRPr dirty="0"/>
          </a:p>
        </p:txBody>
      </p:sp>
      <p:sp>
        <p:nvSpPr>
          <p:cNvPr id="501" name="Google Shape;501;p61"/>
          <p:cNvSpPr txBox="1">
            <a:spLocks noGrp="1"/>
          </p:cNvSpPr>
          <p:nvPr>
            <p:ph type="subTitle" idx="7"/>
          </p:nvPr>
        </p:nvSpPr>
        <p:spPr>
          <a:xfrm>
            <a:off x="1655200" y="39024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training process</a:t>
            </a:r>
            <a:endParaRPr dirty="0"/>
          </a:p>
        </p:txBody>
      </p:sp>
      <p:sp>
        <p:nvSpPr>
          <p:cNvPr id="503" name="Google Shape;503;p61"/>
          <p:cNvSpPr txBox="1">
            <a:spLocks noGrp="1"/>
          </p:cNvSpPr>
          <p:nvPr>
            <p:ph type="title" idx="9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4" name="Google Shape;504;p61"/>
          <p:cNvSpPr txBox="1">
            <a:spLocks noGrp="1"/>
          </p:cNvSpPr>
          <p:nvPr>
            <p:ph type="title" idx="13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5" name="Google Shape;505;p61"/>
          <p:cNvSpPr txBox="1">
            <a:spLocks noGrp="1"/>
          </p:cNvSpPr>
          <p:nvPr>
            <p:ph type="title" idx="14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6" name="Google Shape;506;p61"/>
          <p:cNvSpPr txBox="1">
            <a:spLocks noGrp="1"/>
          </p:cNvSpPr>
          <p:nvPr>
            <p:ph type="title" idx="15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617823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Idea Objective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</a:rPr>
              <a:t>- Develop a model that can classify images into two categories: "Vehicles" (cars, trucks, motorbikes, etc.) and "Non-vehicles" (pedestrians, animals, bicycles, etc.).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</a:rPr>
              <a:t>- Below is the application when applying this project: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Traffic monitoring system: Classify objects detected by cameras as vehicles or non-vehicles for traffic analysis. 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Autonomous vehicles: Enhance the object detection system by filtering out non-vehicle objects. </a:t>
            </a: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Security monitoring: Automatically detect vehicles in security footage to monitor parking lots or restricted areas.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1978026" y="2330341"/>
            <a:ext cx="5187948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Collect data</a:t>
            </a:r>
            <a:endParaRPr dirty="0"/>
          </a:p>
        </p:txBody>
      </p:sp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090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617823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13250" y="1034279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hlinkClick r:id="rId3"/>
              </a:rPr>
              <a:t>https://www.kaggle.com/datasets/brsdincer/vehicle-detection-image-set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</a:p>
        </p:txBody>
      </p:sp>
      <p:pic>
        <p:nvPicPr>
          <p:cNvPr id="3" name="Picture 2" descr="A tree on a hill&#10;&#10;Description automatically generated">
            <a:extLst>
              <a:ext uri="{FF2B5EF4-FFF2-40B4-BE49-F238E27FC236}">
                <a16:creationId xmlns:a16="http://schemas.microsoft.com/office/drawing/2014/main" id="{FD9379B5-E333-5BFD-86C6-8DBBE39CF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16" y="1623533"/>
            <a:ext cx="2535043" cy="2535043"/>
          </a:xfrm>
          <a:prstGeom prst="rect">
            <a:avLst/>
          </a:prstGeom>
        </p:spPr>
      </p:pic>
      <p:pic>
        <p:nvPicPr>
          <p:cNvPr id="5" name="Picture 4" descr="A blurry image of a car&#10;&#10;Description automatically generated">
            <a:extLst>
              <a:ext uri="{FF2B5EF4-FFF2-40B4-BE49-F238E27FC236}">
                <a16:creationId xmlns:a16="http://schemas.microsoft.com/office/drawing/2014/main" id="{8FDFAB22-F531-4CEB-3B0F-3F46829C7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414" y="1606979"/>
            <a:ext cx="2535044" cy="2535044"/>
          </a:xfrm>
          <a:prstGeom prst="rect">
            <a:avLst/>
          </a:prstGeom>
        </p:spPr>
      </p:pic>
      <p:sp>
        <p:nvSpPr>
          <p:cNvPr id="6" name="Google Shape;489;p60">
            <a:extLst>
              <a:ext uri="{FF2B5EF4-FFF2-40B4-BE49-F238E27FC236}">
                <a16:creationId xmlns:a16="http://schemas.microsoft.com/office/drawing/2014/main" id="{1DE802E8-F4F4-3874-40B5-C73082944108}"/>
              </a:ext>
            </a:extLst>
          </p:cNvPr>
          <p:cNvSpPr txBox="1">
            <a:spLocks/>
          </p:cNvSpPr>
          <p:nvPr/>
        </p:nvSpPr>
        <p:spPr>
          <a:xfrm>
            <a:off x="1653439" y="4240251"/>
            <a:ext cx="135341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</a:rPr>
              <a:t>Non-vehicles</a:t>
            </a:r>
          </a:p>
        </p:txBody>
      </p:sp>
      <p:sp>
        <p:nvSpPr>
          <p:cNvPr id="7" name="Google Shape;489;p60">
            <a:extLst>
              <a:ext uri="{FF2B5EF4-FFF2-40B4-BE49-F238E27FC236}">
                <a16:creationId xmlns:a16="http://schemas.microsoft.com/office/drawing/2014/main" id="{D48A15AD-33E6-124D-9958-A6D9D12DCDCF}"/>
              </a:ext>
            </a:extLst>
          </p:cNvPr>
          <p:cNvSpPr txBox="1">
            <a:spLocks/>
          </p:cNvSpPr>
          <p:nvPr/>
        </p:nvSpPr>
        <p:spPr>
          <a:xfrm>
            <a:off x="5906228" y="4240251"/>
            <a:ext cx="135341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</a:rPr>
              <a:t>Vehicles</a:t>
            </a:r>
          </a:p>
        </p:txBody>
      </p:sp>
    </p:spTree>
    <p:extLst>
      <p:ext uri="{BB962C8B-B14F-4D97-AF65-F5344CB8AC3E}">
        <p14:creationId xmlns:p14="http://schemas.microsoft.com/office/powerpoint/2010/main" val="28165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617823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Devices</a:t>
            </a:r>
            <a:endParaRPr dirty="0"/>
          </a:p>
        </p:txBody>
      </p:sp>
      <p:pic>
        <p:nvPicPr>
          <p:cNvPr id="1026" name="Picture 2" descr="Bảng Mạch Modun Camera ESP32 CAM WiFi + Bluetooth ESP32 Với Mô-Đun Camera  OV2640 2MP Mới | Shopee Việt Nam">
            <a:extLst>
              <a:ext uri="{FF2B5EF4-FFF2-40B4-BE49-F238E27FC236}">
                <a16:creationId xmlns:a16="http://schemas.microsoft.com/office/drawing/2014/main" id="{47EE1AE3-BE23-F0A3-FC7D-1081A77EB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76" y="1017725"/>
            <a:ext cx="3463848" cy="346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489;p60">
            <a:extLst>
              <a:ext uri="{FF2B5EF4-FFF2-40B4-BE49-F238E27FC236}">
                <a16:creationId xmlns:a16="http://schemas.microsoft.com/office/drawing/2014/main" id="{E116D9D8-CFEB-6982-2B72-A3B899AC4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2594" y="2285400"/>
            <a:ext cx="110718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</a:rPr>
              <a:t>ESP32-CAM</a:t>
            </a:r>
          </a:p>
        </p:txBody>
      </p:sp>
    </p:spTree>
    <p:extLst>
      <p:ext uri="{BB962C8B-B14F-4D97-AF65-F5344CB8AC3E}">
        <p14:creationId xmlns:p14="http://schemas.microsoft.com/office/powerpoint/2010/main" val="843340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1978026" y="2330341"/>
            <a:ext cx="5187948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training process</a:t>
            </a:r>
            <a:endParaRPr dirty="0"/>
          </a:p>
        </p:txBody>
      </p:sp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9923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1: Connect the device</a:t>
            </a:r>
            <a:endParaRPr dirty="0"/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261406E5-A618-08F7-FB5F-882BB9D48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47" y="1187380"/>
            <a:ext cx="5913306" cy="3325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2: Collect your first data</a:t>
            </a:r>
            <a:endParaRPr dirty="0"/>
          </a:p>
        </p:txBody>
      </p:sp>
      <p:sp>
        <p:nvSpPr>
          <p:cNvPr id="13" name="Google Shape;535;p63">
            <a:extLst>
              <a:ext uri="{FF2B5EF4-FFF2-40B4-BE49-F238E27FC236}">
                <a16:creationId xmlns:a16="http://schemas.microsoft.com/office/drawing/2014/main" id="{FCF366FF-B1C1-4631-42DE-2CE6AF313C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017725"/>
            <a:ext cx="545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>
                <a:latin typeface="Montserrat" panose="00000500000000000000" pitchFamily="2" charset="0"/>
              </a:rPr>
              <a:t>Non-vehicles </a:t>
            </a:r>
            <a:r>
              <a:rPr lang="en-US" dirty="0">
                <a:latin typeface="Montserrat" panose="00000500000000000000" pitchFamily="2" charset="0"/>
              </a:rPr>
              <a:t>data:</a:t>
            </a:r>
            <a:endParaRPr dirty="0">
              <a:latin typeface="Montserrat" panose="00000500000000000000" pitchFamily="2" charset="0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6D80E33C-BCF7-5F6F-6747-969E6FEBAE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900" y="1590425"/>
            <a:ext cx="5458200" cy="307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76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2: Collect your first data</a:t>
            </a:r>
            <a:endParaRPr dirty="0"/>
          </a:p>
        </p:txBody>
      </p:sp>
      <p:sp>
        <p:nvSpPr>
          <p:cNvPr id="13" name="Google Shape;535;p63">
            <a:extLst>
              <a:ext uri="{FF2B5EF4-FFF2-40B4-BE49-F238E27FC236}">
                <a16:creationId xmlns:a16="http://schemas.microsoft.com/office/drawing/2014/main" id="{FCF366FF-B1C1-4631-42DE-2CE6AF313C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017725"/>
            <a:ext cx="545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latin typeface="Montserrat" panose="00000500000000000000" pitchFamily="2" charset="0"/>
              </a:rPr>
              <a:t>Vehicles data:</a:t>
            </a:r>
            <a:endParaRPr dirty="0">
              <a:latin typeface="Montserrat" panose="00000500000000000000" pitchFamily="2" charset="0"/>
            </a:endParaRPr>
          </a:p>
        </p:txBody>
      </p:sp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8056790B-4A6C-D78D-520B-720B9AEA66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107" y="1590425"/>
            <a:ext cx="5449786" cy="306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64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3: Build the data set</a:t>
            </a:r>
            <a:endParaRPr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1F0E25C-6BFA-30C9-5447-DC3D8146A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167741"/>
            <a:ext cx="59436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64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4: Impulse design</a:t>
            </a:r>
            <a:endParaRPr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2F0CD50-D38F-A42F-0EF7-ED9F05D467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204912"/>
            <a:ext cx="59436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79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5: Design the model</a:t>
            </a:r>
            <a:endParaRPr dirty="0"/>
          </a:p>
        </p:txBody>
      </p:sp>
      <p:sp>
        <p:nvSpPr>
          <p:cNvPr id="13" name="Google Shape;535;p63">
            <a:extLst>
              <a:ext uri="{FF2B5EF4-FFF2-40B4-BE49-F238E27FC236}">
                <a16:creationId xmlns:a16="http://schemas.microsoft.com/office/drawing/2014/main" id="{FCF366FF-B1C1-4631-42DE-2CE6AF313C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017725"/>
            <a:ext cx="545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latin typeface="Montserrat" panose="00000500000000000000" pitchFamily="2" charset="0"/>
              </a:rPr>
              <a:t>Image Processing: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ECAB729-C8CC-799E-D3E5-68EC0E5D16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6" y="1590423"/>
            <a:ext cx="4438185" cy="2496479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C6665B5-D78C-1A92-B5E4-4B4F651C08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732" y="1590423"/>
            <a:ext cx="4438184" cy="249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04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5: Design the model</a:t>
            </a:r>
            <a:endParaRPr dirty="0"/>
          </a:p>
        </p:txBody>
      </p:sp>
      <p:sp>
        <p:nvSpPr>
          <p:cNvPr id="13" name="Google Shape;535;p63">
            <a:extLst>
              <a:ext uri="{FF2B5EF4-FFF2-40B4-BE49-F238E27FC236}">
                <a16:creationId xmlns:a16="http://schemas.microsoft.com/office/drawing/2014/main" id="{FCF366FF-B1C1-4631-42DE-2CE6AF313C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017725"/>
            <a:ext cx="545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latin typeface="Montserrat" panose="00000500000000000000" pitchFamily="2" charset="0"/>
              </a:rPr>
              <a:t>Transfer Learning: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4A9FF7CC-97A4-0AAB-0310-B45B5066DF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42" y="1525507"/>
            <a:ext cx="5019499" cy="2823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07054C6-2148-0C81-271C-5AC9A36444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414" y="427390"/>
            <a:ext cx="3356749" cy="2519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51363A17-425F-3F8A-A3DC-93F2FA727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027" y="2996720"/>
            <a:ext cx="2745522" cy="17660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5763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6: Test the model</a:t>
            </a:r>
            <a:endParaRPr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FA6208C-4788-B6E2-66B3-DA27A7B397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7" y="1590425"/>
            <a:ext cx="4348137" cy="2445827"/>
          </a:xfrm>
          <a:prstGeom prst="rect">
            <a:avLst/>
          </a:prstGeom>
        </p:spPr>
      </p:pic>
      <p:pic>
        <p:nvPicPr>
          <p:cNvPr id="7" name="Picture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20E1D1F-9C14-7E9A-DA93-1EACF0647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928" y="468524"/>
            <a:ext cx="4348137" cy="420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76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Step 7: Deploy to your device</a:t>
            </a:r>
            <a:endParaRPr dirty="0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6DA8CF27-85F6-547A-0552-7269DAFF20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93400"/>
            <a:ext cx="59436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85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9"/>
          <p:cNvSpPr txBox="1">
            <a:spLocks noGrp="1"/>
          </p:cNvSpPr>
          <p:nvPr>
            <p:ph type="title"/>
          </p:nvPr>
        </p:nvSpPr>
        <p:spPr>
          <a:xfrm>
            <a:off x="1978026" y="2330341"/>
            <a:ext cx="5187948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 on Arduino IDE</a:t>
            </a:r>
            <a:endParaRPr dirty="0"/>
          </a:p>
        </p:txBody>
      </p:sp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6855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68;p123">
            <a:extLst>
              <a:ext uri="{FF2B5EF4-FFF2-40B4-BE49-F238E27FC236}">
                <a16:creationId xmlns:a16="http://schemas.microsoft.com/office/drawing/2014/main" id="{9603B3AD-59D6-8F47-D578-1F5BB6BABF27}"/>
              </a:ext>
            </a:extLst>
          </p:cNvPr>
          <p:cNvSpPr txBox="1">
            <a:spLocks/>
          </p:cNvSpPr>
          <p:nvPr/>
        </p:nvSpPr>
        <p:spPr>
          <a:xfrm>
            <a:off x="1416450" y="2110350"/>
            <a:ext cx="6311100" cy="9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Vidaloka"/>
              <a:buNone/>
              <a:defRPr sz="5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/>
              <a:t>Thanks for watching</a:t>
            </a:r>
          </a:p>
        </p:txBody>
      </p:sp>
    </p:spTree>
    <p:extLst>
      <p:ext uri="{BB962C8B-B14F-4D97-AF65-F5344CB8AC3E}">
        <p14:creationId xmlns:p14="http://schemas.microsoft.com/office/powerpoint/2010/main" val="686566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23"/>
          <p:cNvSpPr txBox="1">
            <a:spLocks noGrp="1"/>
          </p:cNvSpPr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1569" name="Google Shape;1569;p123"/>
          <p:cNvSpPr txBox="1">
            <a:spLocks noGrp="1"/>
          </p:cNvSpPr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email@freepik.com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+91 620 421 838 yourcompany.com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246</Words>
  <Application>Microsoft Office PowerPoint</Application>
  <PresentationFormat>On-screen Show (16:9)</PresentationFormat>
  <Paragraphs>49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Lato</vt:lpstr>
      <vt:lpstr>Open Sans</vt:lpstr>
      <vt:lpstr>Vidaloka</vt:lpstr>
      <vt:lpstr>Arial</vt:lpstr>
      <vt:lpstr>Montserrat</vt:lpstr>
      <vt:lpstr>Merriweather Light</vt:lpstr>
      <vt:lpstr>Minimalist Business Slides XL by Slidesgo</vt:lpstr>
      <vt:lpstr> AIOT Final Project</vt:lpstr>
      <vt:lpstr>Table of contents</vt:lpstr>
      <vt:lpstr>Introduction</vt:lpstr>
      <vt:lpstr>Project Idea Objective</vt:lpstr>
      <vt:lpstr>Collect data</vt:lpstr>
      <vt:lpstr>Dataset</vt:lpstr>
      <vt:lpstr>Devices</vt:lpstr>
      <vt:lpstr>Model training process</vt:lpstr>
      <vt:lpstr>Step 1: Connect the device</vt:lpstr>
      <vt:lpstr>Step 2: Collect your first data</vt:lpstr>
      <vt:lpstr>Step 2: Collect your first data</vt:lpstr>
      <vt:lpstr>Step 3: Build the data set</vt:lpstr>
      <vt:lpstr>Step 4: Impulse design</vt:lpstr>
      <vt:lpstr>Step 5: Design the model</vt:lpstr>
      <vt:lpstr>Step 5: Design the model</vt:lpstr>
      <vt:lpstr>Step 6: Test the model</vt:lpstr>
      <vt:lpstr>Step 7: Deploy to your device</vt:lpstr>
      <vt:lpstr>Build on Arduino IDE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TRÍ TÀI</cp:lastModifiedBy>
  <cp:revision>3</cp:revision>
  <dcterms:modified xsi:type="dcterms:W3CDTF">2024-08-31T08:13:40Z</dcterms:modified>
</cp:coreProperties>
</file>